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1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eD2unh5AE9V-rM8bS75QvcL8VurlmCS/view?usp=drive_lin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B1520"/>
          </a:solidFill>
          <a:ln w="12700">
            <a:solidFill>
              <a:srgbClr val="0B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45720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62088" y="45720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46136" y="45720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5720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128016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2088" y="128016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46136" y="128016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128016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10312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088" y="210312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6136" y="210312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210312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92608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2088" y="292608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46136" y="292608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292608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374904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2088" y="374904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46136" y="374904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3749040"/>
            <a:ext cx="54864" cy="54864"/>
          </a:xfrm>
          <a:prstGeom prst="ellipse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96012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FDE  ·  PRE-SCREENING ASSIGNMENT  ·  WIPRO  ·  MAY 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141732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WorkBridge AI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457200" y="2487168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Multi-Agent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Assistant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3474720" cy="228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6616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 </a:t>
            </a:r>
            <a:r>
              <a:rPr lang="en-US" sz="11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OpenAI GPT-4o-mini  ·  Sequential Multi-Agent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1463040" cy="658368"/>
          </a:xfrm>
          <a:prstGeom prst="rect">
            <a:avLst/>
          </a:prstGeom>
          <a:solidFill>
            <a:srgbClr val="2E86C1">
              <a:alpha val="20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776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057400" y="3977640"/>
            <a:ext cx="1463040" cy="658368"/>
          </a:xfrm>
          <a:prstGeom prst="rect">
            <a:avLst/>
          </a:prstGeom>
          <a:solidFill>
            <a:srgbClr val="2E86C1">
              <a:alpha val="20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39776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657600" y="3977640"/>
            <a:ext cx="1828800" cy="658368"/>
          </a:xfrm>
          <a:prstGeom prst="rect">
            <a:avLst/>
          </a:prstGeom>
          <a:solidFill>
            <a:srgbClr val="2E86C1">
              <a:alpha val="20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977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Policy Workflows Are Broken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48463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2588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4389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give different responses to the same policy question. No single source of truth for compliance or refund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487168"/>
            <a:ext cx="48463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487168"/>
            <a:ext cx="54864" cy="10789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968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898648"/>
            <a:ext cx="4389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 assistants fabricate policy rules from training data — not from the organisation's actual documents.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648456"/>
            <a:ext cx="48463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648456"/>
            <a:ext cx="54864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581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 or Audit Trail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059936"/>
            <a:ext cx="4389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lack citations, confidence levels, or visibility into how answers were generated — making compliance review impossible.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1325880"/>
            <a:ext cx="3337560" cy="3493008"/>
          </a:xfrm>
          <a:prstGeom prst="rect">
            <a:avLst/>
          </a:prstGeom>
          <a:solidFill>
            <a:srgbClr val="D6EAF8"/>
          </a:solidFill>
          <a:ln w="7620">
            <a:solidFill>
              <a:srgbClr val="BAD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463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1874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repeatedly answer the same refund, PII, and escalation questions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tools: static PDF documents, keyword search, manual escalation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 resolution times, inconsistent guidance, compliance exposure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fast, reliable, grounded assistant that cites its sources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WorkBridge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 multi-agent assistant grounded entirely in internal policy documents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788920" cy="345643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89888"/>
            <a:ext cx="278892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898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1956816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employee policy questions using only retrieved internal documents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unsafe or off-topic queries before any LLM call is made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confidence level and source citations with every </a:t>
            </a:r>
            <a:r>
              <a:rPr lang="en-US" sz="105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050" dirty="0">
                <a:solidFill>
                  <a:schemeClr val="tx2">
                    <a:lumMod val="75000"/>
                  </a:schemeClr>
                </a:solidFill>
              </a:rPr>
              <a:t>Supports broader enterprise workflows including PTO, remote work, equipment requests, and expense </a:t>
            </a:r>
            <a:r>
              <a:rPr lang="en-IN" sz="1050" dirty="0" smtClean="0">
                <a:solidFill>
                  <a:schemeClr val="tx2">
                    <a:lumMod val="75000"/>
                  </a:schemeClr>
                </a:solidFill>
              </a:rPr>
              <a:t>reimbursement</a:t>
            </a:r>
            <a:endParaRPr lang="en-US" sz="10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28416" y="1389888"/>
            <a:ext cx="2788920" cy="345643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28416" y="1389888"/>
            <a:ext cx="278892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3898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5576" y="1956816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one focused responsibility — no scope overlap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ensures every step is validated before proceeding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reviews answers; full trace shown in UI for explainability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389888"/>
            <a:ext cx="2788920" cy="345643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389888"/>
            <a:ext cx="2788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38988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1956816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before answering — no speculation beyond policy context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before generating — safety check runs first, zero LLM cost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but explainable stack — intent-aware retrieval without heavy orchestration frameworks or vector databases.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— every agent runs in order, no step is skipped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2E86C1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44752"/>
            <a:ext cx="1298448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63624" y="2011680"/>
            <a:ext cx="914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9293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64208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C0392B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64208" y="1444752"/>
            <a:ext cx="1298448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&amp; off-topic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(regex)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71800" y="2011680"/>
            <a:ext cx="914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19293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72384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D68910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444752"/>
            <a:ext cx="1298448" cy="502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27248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retrieval steps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79976" y="2011680"/>
            <a:ext cx="914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9293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1E8449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1444752"/>
            <a:ext cx="1298448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35424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retrieval over local policy files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88152" y="2011680"/>
            <a:ext cx="914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19293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88736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2E86C1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88736" y="1444752"/>
            <a:ext cx="1298448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draft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(RAG only)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96328" y="2011680"/>
            <a:ext cx="914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19293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96912" y="1444752"/>
            <a:ext cx="1298448" cy="1188720"/>
          </a:xfrm>
          <a:prstGeom prst="rect">
            <a:avLst/>
          </a:prstGeom>
          <a:solidFill>
            <a:srgbClr val="0F2333"/>
          </a:solidFill>
          <a:ln w="19050">
            <a:solidFill>
              <a:srgbClr val="8E44AD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96912" y="1444752"/>
            <a:ext cx="1298448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15179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51776" y="18288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grounding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confidence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2834640"/>
            <a:ext cx="8631936" cy="960120"/>
          </a:xfrm>
          <a:prstGeom prst="rect">
            <a:avLst/>
          </a:prstGeom>
          <a:solidFill>
            <a:srgbClr val="0F2333"/>
          </a:solidFill>
          <a:ln w="22860">
            <a:solidFill>
              <a:srgbClr val="2E86C1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2834640"/>
            <a:ext cx="8631936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907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4048" y="32278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final answer for the employee — applies confidence banners, caveats, and source citations. All agent outputs displayed in UI for full traceability.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06240" y="250545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256032" y="3950208"/>
            <a:ext cx="274320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9502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Safe-first: Guardrail before any LLM call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72968" y="3950208"/>
            <a:ext cx="274320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00984" y="39502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Grounded: Retrieval-only context for Analyst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89904" y="3950208"/>
            <a:ext cx="274320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9502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Critic reviews before user sees answer</a:t>
            </a:r>
            <a:endParaRPr lang="en-US" sz="1000" dirty="0"/>
          </a:p>
        </p:txBody>
      </p:sp>
      <p:sp>
        <p:nvSpPr>
          <p:cNvPr id="999" name="Footer Caption"/>
          <p:cNvSpPr/>
          <p:nvPr/>
        </p:nvSpPr>
        <p:spPr>
          <a:xfrm>
            <a:off x="411480" y="484632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</a:rPr>
              <a:t>Intent-aware retrieval improves handling of paraphrased enterprise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Responsibilities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591056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1463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77393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pre-filter. Blocks prompt injection phrases, jailbreak attempts, off-topic queries, and malformed inputs before any LLM call is made.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56048" y="1591056"/>
            <a:ext cx="365760" cy="36576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13248" y="1463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177393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GPT-4o-mini to decompose the user's query into 2–4 retrieval steps. Makes the reasoning plan visible in the agent trace UI.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56032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779776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296265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retrieval using keyword overlap, synonym expansion, and policy-domain matching over local policy </a:t>
            </a:r>
            <a:r>
              <a:rPr lang="en-IN" sz="100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r>
              <a:rPr lang="en-US" sz="100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domain keyword hints to pre-select relevant files, returns top-K scored chunks.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2779776"/>
            <a:ext cx="365760" cy="3657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13248" y="296265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RAG-style answer generation. System prompt explicitly forbids using knowledge outside the retrieved context. Cites policy sources.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374904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" y="3968496"/>
            <a:ext cx="365760" cy="3657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0976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" y="4151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evaluation: grounding, accuracy, completeness, confidence (HIGH/MEDIUM/LOW), recommendation (APPROVE / APPROVE WITH CAVEAT / REVISE).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74904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56048" y="396849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13248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13248" y="4151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approved draft for a non-technical employee. Appends confidence banners and source document names. Never adds unsupported details.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 &amp; Grounded Answers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system answers from retrieved documents — not from model memory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4297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89888"/>
            <a:ext cx="54864" cy="76809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35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.txt 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refund_policy.txt                    </a:t>
            </a:r>
            <a:endParaRPr lang="en-US" sz="950" dirty="0" smtClean="0"/>
          </a:p>
          <a:p>
            <a:pPr marL="0" indent="0">
              <a:buNone/>
            </a:pPr>
            <a:r>
              <a:rPr lang="en-US" sz="95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pii_policy.txt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escalation_policy.txt  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215798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86000"/>
            <a:ext cx="4297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286000"/>
            <a:ext cx="54864" cy="7680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151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policy sections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sliding overlap per 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3054096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182112"/>
            <a:ext cx="4297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182112"/>
            <a:ext cx="54864" cy="768096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35112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keyword hints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 relevant files.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overlap scoring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395020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4078224"/>
            <a:ext cx="4297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078224"/>
            <a:ext cx="54864" cy="76809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 → Analyst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44074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highest-scoring sections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answer generation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56048" y="1389888"/>
            <a:ext cx="3822192" cy="2121408"/>
          </a:xfrm>
          <a:prstGeom prst="rect">
            <a:avLst/>
          </a:prstGeom>
          <a:solidFill>
            <a:srgbClr val="D6EAF8"/>
          </a:solidFill>
          <a:ln w="7620">
            <a:solidFill>
              <a:srgbClr val="BAD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15179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Grounding Matters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1865376"/>
            <a:ext cx="35204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system prompt explicitly forbids using knowledge outside the retrieved context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hallucinated policy rules from GPT training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which policy file it came from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database required — keyword scoring is fast and transparent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6048" y="3657600"/>
            <a:ext cx="3822192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38928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Constraint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4041648"/>
            <a:ext cx="34930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the question using ONLY the policy context above. Do not use outside knowledge. If the context is not enough, say so clearly."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Guardrails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without external security tooling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71600"/>
            <a:ext cx="5029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44475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Blocking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" y="173736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detect injection phrases, jailbreak attempts, and system-bypass commands before any LLM call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before any LLM call — zero token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71600"/>
            <a:ext cx="50292" cy="10789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44475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Filtering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01768" y="173736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Non-policy queries (recipes, sports, finance) are rejected — keeps the system scope-controlled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misuse and enforces policy-only scope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60320"/>
            <a:ext cx="50292" cy="10789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63347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" y="292608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evaluated for grounding, accuracy, and completeness before reaching the user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recommendation prevents low-quality answers from reaching 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56032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60320"/>
            <a:ext cx="50292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63347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01768" y="292608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confidence derived from Critic evaluation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banners surface low-confidence or partially supported answers to users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74904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749040"/>
            <a:ext cx="50292" cy="10789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382219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&amp; Secret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" y="411480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loaded via python-dotenv — never logged or exposed in agent output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is gitignored; .env.example shows structure without real credentials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418795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749040"/>
            <a:ext cx="50292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82219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01768" y="4078224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trace shown in UI — plan steps, retrieved chunks, analyst draft, critic score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answer was generated" section lists files searched and chunks </a:t>
            </a:r>
            <a:r>
              <a:rPr lang="en-US" sz="95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</a:p>
          <a:p>
            <a:pPr>
              <a:spcAft>
                <a:spcPts val="400"/>
              </a:spcAft>
              <a:buSzPct val="100000"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lightweight stack — no heavy frameworks or managed cloud services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2E86C1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89888"/>
            <a:ext cx="278892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+ all agent modules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for non-LLM logic — no heavy dependencies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38988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1E8449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389888"/>
            <a:ext cx="278892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48132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8144" y="182880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&amp; agent trace display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38144" y="221284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expanders, status banners, sample question buttons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72784" y="138988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D68910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1389888"/>
            <a:ext cx="2788920" cy="502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8132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Planner, Analyst, Critic, Response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221284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System-prompted per agent; Guardrail and Retriever use no LLM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17296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8E44AD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172968"/>
            <a:ext cx="2788920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26440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" y="361188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99592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loaded from .env; never logged or shown in any output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319582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C0392B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172968"/>
            <a:ext cx="27889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326440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.txt Files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38144" y="361188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store (no vector DB needed)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38144" y="399592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policy documents covering refund, PII, escalation, PTO, remote work, and expenses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72784" y="3172968"/>
            <a:ext cx="2788920" cy="1600200"/>
          </a:xfrm>
          <a:prstGeom prst="rect">
            <a:avLst/>
          </a:prstGeom>
          <a:solidFill>
            <a:srgbClr val="0F2333"/>
          </a:solidFill>
          <a:ln w="12700">
            <a:solidFill>
              <a:srgbClr val="1B6CA8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2784" y="3172968"/>
            <a:ext cx="2788920" cy="502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264408"/>
            <a:ext cx="2532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361188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an independent Python module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3995928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agent modules — each with a single, focused responsibility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live Streamlit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316736"/>
            <a:ext cx="4270248" cy="1892808"/>
          </a:xfrm>
          <a:prstGeom prst="rect">
            <a:avLst/>
          </a:prstGeom>
          <a:solidFill>
            <a:srgbClr val="DEE6ED"/>
          </a:solidFill>
          <a:ln w="635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353115"/>
            <a:ext cx="4160520" cy="1783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316382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— sample questions sidebar + query input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45736" y="1316736"/>
            <a:ext cx="4270248" cy="1892808"/>
          </a:xfrm>
          <a:prstGeom prst="rect">
            <a:avLst/>
          </a:prstGeom>
          <a:solidFill>
            <a:srgbClr val="DEE6ED"/>
          </a:solidFill>
          <a:ln w="635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371600"/>
            <a:ext cx="4160520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16382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Trace — Guardrail PASSED + Planner steps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92608" y="3255264"/>
            <a:ext cx="4270248" cy="1892808"/>
          </a:xfrm>
          <a:prstGeom prst="rect">
            <a:avLst/>
          </a:prstGeom>
          <a:solidFill>
            <a:srgbClr val="DEE6ED"/>
          </a:solidFill>
          <a:ln w="635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4739" y="3223308"/>
            <a:ext cx="4160520" cy="18698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" y="5102351"/>
            <a:ext cx="4160520" cy="344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— confidence indicator, policy risk classification, escalation recommendation, and </a:t>
            </a:r>
            <a:r>
              <a:rPr lang="en-IN" sz="850" i="1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r>
              <a:rPr lang="en-IN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745736" y="3255264"/>
            <a:ext cx="4270248" cy="1892808"/>
          </a:xfrm>
          <a:prstGeom prst="rect">
            <a:avLst/>
          </a:prstGeom>
          <a:solidFill>
            <a:srgbClr val="DEE6ED"/>
          </a:solidFill>
          <a:ln w="6350">
            <a:solidFill>
              <a:srgbClr val="C5D5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00600" y="3227832"/>
            <a:ext cx="4160520" cy="18653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00600" y="5102352"/>
            <a:ext cx="4160520" cy="34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Blocking — injection attempt caught before LLM call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Video Walkthrough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walkthrough of the deployed WorkBridge AI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5071" y="1252728"/>
            <a:ext cx="7364361" cy="2926080"/>
          </a:xfrm>
          <a:prstGeom prst="rect">
            <a:avLst/>
          </a:prstGeom>
          <a:solidFill>
            <a:srgbClr val="0A1825"/>
          </a:solidFill>
          <a:ln w="19050">
            <a:solidFill>
              <a:srgbClr val="2E86C1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1956816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▶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188720" y="318211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566160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4407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covers: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315968"/>
            <a:ext cx="6784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Q&amp;A walkthrough (refund, PII, escalation queries)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trace — plan, retrieval, analysis, critic, response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blocked live by Guardrail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banners and explainability section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Improvements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22452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89888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792224"/>
            <a:ext cx="39684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 misses paraphrased queries — differently worded questions return lower-relevance chunks.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constraints in the Analyst prompt were essential — positive guidance alone was insufficient to prevent out-of-context speculation.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Calibration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strict Critic thresholds added unnecessary caveats to well-grounded answers — required tuning across test cases.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Depth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surfaces retrieved chunks but does not highlight the deciding policy passage within each result.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1389888"/>
            <a:ext cx="4005072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3898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01184" y="1792224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b="1" dirty="0" smtClean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Retrieval — </a:t>
            </a:r>
            <a:r>
              <a:rPr lang="en-IN" sz="1000" dirty="0"/>
              <a:t>Explore semantic retrieval with </a:t>
            </a:r>
            <a:r>
              <a:rPr lang="en-IN" sz="1000" dirty="0" err="1"/>
              <a:t>embeddings</a:t>
            </a:r>
            <a:r>
              <a:rPr lang="en-IN" sz="1000" dirty="0"/>
              <a:t> and FAISS for stronger paraphrase handling and retrieval recall</a:t>
            </a:r>
            <a:r>
              <a:rPr lang="en-IN" sz="1000" dirty="0" smtClean="0"/>
              <a:t>.</a:t>
            </a:r>
          </a:p>
          <a:p>
            <a:endParaRPr lang="en-IN" sz="1000" b="1" dirty="0">
              <a:solidFill>
                <a:srgbClr val="1B6C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smtClean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Orchestration — </a:t>
            </a:r>
            <a:r>
              <a:rPr lang="en-US" sz="1000" dirty="0" smtClean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pipeline when Critic returns REVISE — trigger re-retrieval rather than stopping.</a:t>
            </a:r>
            <a:endParaRPr lang="en-US" sz="1000" dirty="0" smtClean="0"/>
          </a:p>
          <a:p>
            <a:pPr marL="0" indent="0">
              <a:buNone/>
            </a:pPr>
            <a:endParaRPr lang="en-US" sz="1000" b="1" dirty="0" smtClean="0">
              <a:solidFill>
                <a:srgbClr val="1B6C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 smtClean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</a:t>
            </a: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queries, agent outputs, and critic decisions to a database for compliance review and drift monitoring.</a:t>
            </a:r>
            <a:endParaRPr lang="en-US" sz="1000" dirty="0"/>
          </a:p>
          <a:p>
            <a:pPr marL="0" indent="0">
              <a:buNone/>
            </a:pPr>
            <a:endParaRPr lang="en-US" sz="1000" b="1" dirty="0" smtClean="0">
              <a:solidFill>
                <a:srgbClr val="1B6C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 smtClean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</a:t>
            </a: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Library — </a:t>
            </a: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HR, IT security, travel expense, and acceptable use policy documents; support PDF ingestion.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858768"/>
            <a:ext cx="8394192" cy="896112"/>
          </a:xfrm>
          <a:prstGeom prst="rect">
            <a:avLst/>
          </a:prstGeom>
          <a:solidFill>
            <a:srgbClr val="D6EAF8"/>
          </a:solidFill>
          <a:ln w="7620">
            <a:solidFill>
              <a:srgbClr val="BAD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502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245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secure multi-agent system does not need complex infrastructure. Controlled pipelines, explicit retrieval constraints, and structured validation deliver reliable results even with a minimal stack.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WorkBridge AI — Summary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0332" y="1453896"/>
            <a:ext cx="2788920" cy="2240280"/>
          </a:xfrm>
          <a:prstGeom prst="rect">
            <a:avLst/>
          </a:prstGeom>
          <a:solidFill>
            <a:srgbClr val="0F2333"/>
          </a:solidFill>
          <a:ln w="15240">
            <a:solidFill>
              <a:srgbClr val="1B6CA8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45920"/>
            <a:ext cx="2788920" cy="502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19072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2103120"/>
            <a:ext cx="25328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6-agent sequential pipeline that answers enterprise policy questions using only retrieved internal documents, with full explainability and safety filtering.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00984" y="1486859"/>
            <a:ext cx="2788920" cy="2240280"/>
          </a:xfrm>
          <a:prstGeom prst="rect">
            <a:avLst/>
          </a:prstGeom>
          <a:solidFill>
            <a:srgbClr val="0F2333"/>
          </a:solidFill>
          <a:ln w="15240">
            <a:solidFill>
              <a:srgbClr val="1E8449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8416" y="1645920"/>
            <a:ext cx="278892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719072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Demonstrated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103120"/>
            <a:ext cx="25328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multi-agent orchestration, retrieval-augmented generation, prompt injection blocking, critic validation, and confidence-driven output.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79042"/>
            <a:ext cx="2788920" cy="2240280"/>
          </a:xfrm>
          <a:prstGeom prst="rect">
            <a:avLst/>
          </a:prstGeom>
          <a:solidFill>
            <a:srgbClr val="0F2333"/>
          </a:solidFill>
          <a:ln w="15240">
            <a:solidFill>
              <a:srgbClr val="8E44AD"/>
            </a:solidFill>
            <a:prstDash val="solid"/>
          </a:ln>
          <a:effectLst>
            <a:outerShdw blurRad="1778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645920"/>
            <a:ext cx="2788920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19072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5328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guardrail thinking matter more than model choice. Controlled, transparent pipelines are more defensible than complex autonomous agents.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828140"/>
            <a:ext cx="8394192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014216"/>
            <a:ext cx="8394192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r>
              <a:rPr lang="en-US" sz="1100" dirty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OpenAI GPT-4o-mini  ·  Local Policy Retrieval  ·  Sequential Multi-Agent </a:t>
            </a:r>
            <a:r>
              <a:rPr lang="en-US" sz="1100" dirty="0" smtClean="0">
                <a:solidFill>
                  <a:srgbClr val="A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</a:p>
          <a:p>
            <a:pPr marL="0" indent="0">
              <a:buNone/>
            </a:pPr>
            <a:endParaRPr lang="en-US" sz="1100" dirty="0" smtClean="0">
              <a:solidFill>
                <a:srgbClr val="A8C6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system balances safety, </a:t>
            </a:r>
            <a:r>
              <a:rPr lang="en-IN" sz="11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r>
              <a:rPr lang="en-IN" sz="1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retrieval grounding, and deployment simplicity without relying on complex autonomous agent frameworks</a:t>
            </a:r>
            <a:r>
              <a:rPr lang="en-IN" sz="11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" y="4526280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FDE Pre-screening Assignment  ·  Wipro  ·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1501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WorkBridge AI</dc:title>
  <dc:subject>Multi-Agent Enterprise Workflow Assistant</dc:subject>
  <dc:creator>Junior FDE Candidate</dc:creator>
  <cp:lastModifiedBy>MALAV</cp:lastModifiedBy>
  <cp:revision>6</cp:revision>
  <dcterms:created xsi:type="dcterms:W3CDTF">2026-05-19T19:43:36Z</dcterms:created>
  <dcterms:modified xsi:type="dcterms:W3CDTF">2026-05-21T01:09:37Z</dcterms:modified>
</cp:coreProperties>
</file>